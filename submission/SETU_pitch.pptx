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 means bridge. The one-line claim: anyone can build a translator; SETU verifies comprehension. Everything runs on the device.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stakes are ordinary and enormous: the instruction was given and never landed.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is the product. The first four are how we earn the right to do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demo beat. Hold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Breadth without shallowness: same engine, tested separation.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legal argument; the performance argument lands harder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learned cost model is the part that is genuinely unusual.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eval that contradicted our design is the hardest thing for a rival entry to fake.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your own gaps buys more credibility than claiming perfection.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one-line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E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सेतु  ·  the bridge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offline comprehension engine for India's language gap.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776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translate a conversation. It checks that the person understood it — entirely on the laptop, with the network switched off.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5394960"/>
            <a:ext cx="4206240" cy="502920"/>
          </a:xfrm>
          <a:prstGeom prst="roundRect">
            <a:avLst>
              <a:gd name="adj" fmla="val 18182"/>
            </a:avLst>
          </a:prstGeom>
          <a:solidFill>
            <a:srgbClr val="18243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539496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Snapdragon® AI Lab Build &amp; Present Challenge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nobody measures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is told, in English, that they have hypertension. 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amlodipine 5 mg od. Get a fasting lipid profile. Come back immediately if you get chest pain.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nod. They say “haan ji.” They go home.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did not understand “od”. They did not understand “fasting”. And they do not know that chest pain means return now, not at the follow-up.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translation problem — a phone can translate. It is a comprehension problem, and its defining feature is that nobody in the room ever finds out.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680960" y="1463040"/>
            <a:ext cx="3840480" cy="1828800"/>
          </a:xfrm>
          <a:prstGeom prst="roundRect">
            <a:avLst>
              <a:gd name="adj" fmla="val 6000"/>
            </a:avLst>
          </a:prstGeom>
          <a:solidFill>
            <a:srgbClr val="E6F2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680960" y="1600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~50%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2514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adherence to long-term therapy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developing countries (WHO)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3520440"/>
            <a:ext cx="3840480" cy="18288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0" y="36576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billion+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45262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Indians who do not speak the language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paperwork is written 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SETU does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laptop on the desk listens to the whole visit. Wi-Fi off.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F7B6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550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6733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activity gates the mic so only real speech reaches Whisper. Continuous, all day, on battery.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457200" cy="457200"/>
          </a:xfrm>
          <a:prstGeom prst="ellipse">
            <a:avLst/>
          </a:prstGeom>
          <a:solidFill>
            <a:srgbClr val="0F7B6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2374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54203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transcribed, language-identified, shown in the patient's own language.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0F7B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924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 jargon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41071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“od”, “fasting”, “lipid profile” — caught as spoken, glossed in plain words.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457200" cy="457200"/>
          </a:xfrm>
          <a:prstGeom prst="ellipse">
            <a:avLst/>
          </a:prstGeom>
          <a:solidFill>
            <a:srgbClr val="0F7B6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2611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plan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427939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extracted as they are given: medicines, tests, follow-up, red flags.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0F7B6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1297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 back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514807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repeats the plan. SETU checks it against what was actually said.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moment that matters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asks the patient to say the plan back. SETU scores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DECE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5 understood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did not repeat these back — and they are the ones that matter.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8243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3375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 “If you get chest pain or breathlessness, come immediately to the emergency.”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3891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learns this while the patient is still in the room — and the patient leaves with a printed card, in their own language, ordered by what will hurt them if they forget it.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Anyone can build a translator. This is a clinical safety instrument.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engine, three settings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the vocabulary away and these are the same problem: two people, a knowledge gap, one side issuing instructions — and nobody checking they landed.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F4F6F8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331720"/>
            <a:ext cx="384048" cy="384048"/>
          </a:xfrm>
          <a:prstGeom prst="ellipse">
            <a:avLst/>
          </a:prstGeom>
          <a:solidFill>
            <a:srgbClr val="0F7B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0876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852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→ patient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461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4564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 ·  fasting  ·  lipid profile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04164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ordered by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42428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flags first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01168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F4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4663440" y="233172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Classroom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852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→ student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2461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4564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weightage  ·  internal  ·  plagiarism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04164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ordered by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2428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dates first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201168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F4F6F8"/>
          </a:solidFill>
          <a:ln/>
        </p:spPr>
      </p:sp>
      <p:sp>
        <p:nvSpPr>
          <p:cNvPr id="21" name="Shape 19"/>
          <p:cNvSpPr/>
          <p:nvPr/>
        </p:nvSpPr>
        <p:spPr>
          <a:xfrm>
            <a:off x="8366760" y="2331720"/>
            <a:ext cx="384048" cy="384048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1540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2852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→ citizen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2461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34564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attested  ·  BPL  ·  acknowledgement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404164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ordered by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42428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 first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courtroom or a bank means writing one Domain object — a lexicon, categories, questions, headings. Not another app. The test suite fails if one domain's vocabulary leaks into another.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needs Snapdragon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third of these is a performance argument.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4F6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8836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Un-cloudable by law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26771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consultation is protected health information. “Send the audio to a data centre” is not a design choice we get to make. On-device is the requirement, not the optimisation.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4F6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32552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 where the link does not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63931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health centre with an intermittent connection is the normal case, not the edge case.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48056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4F6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46268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Sustained, not bursty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501091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speech recognition across a six-hour clinic day is precisely what an NPU exists for and what a CPU cannot afford. Measurable — so we measure it.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Hexa-Router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on-device demos hard-code “put everything on the NPU”. That is wrong for a real workload — the NPU is shared and finite, and the right answer changes the moment the charger comes out.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6F2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194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envelope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model can run on at all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20116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6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0168" y="2194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power state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vs battery, charge level, thermal pressure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6F2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19088" y="2194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priority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streaming · background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20116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6F2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08008" y="2194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cost model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08008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latency and energy, on THIS machine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11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Decides placement per model, per request — NPU / GPU / CPU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41148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Rebuilding a QNN session costs hundreds of ms, so a candidate must beat the incumbent by a margin before it is worth paying for.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681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backstop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46817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is steered off a throttling NPU before it costs more than it saves.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2486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HTP performance mode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5248656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 for interactive turns, sustained_high_performance for all-day streaming, power_saver under battery pressure.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actually work?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submissions say “we built it”. We measured it, on a labelled corpus of sessions across all three settings.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4F6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65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24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misses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the doctor the patient understood when they had not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178308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965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724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missed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017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instructions truly not restated, how many we caught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78308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965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86.7%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724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017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what we flagged, how much was genuinely missed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651760" cy="1965960"/>
          </a:xfrm>
          <a:prstGeom prst="roundRect">
            <a:avLst>
              <a:gd name="adj" fmla="val 5581"/>
            </a:avLst>
          </a:prstGeom>
          <a:solidFill>
            <a:srgbClr val="F4F6F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06840" y="1965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7249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3017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green on a bare checkout with no models present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023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evaluation overturned our own design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4348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keyword matching with sentence embeddings made the check WORSE — precision fell 81% → 76%. Cosine scores an imperative against a first-person promise lower than expected, and the covered/missed ranges overlap. The two signals failed on different items, so the shipped scorer unions them: 86.7%, better than either alone.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were chosen at the operating point that keeps dangerous misses at zero — not the one that maximises F1. A false alarm costs a doctor five seconds. A dangerous miss costs a patient.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D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runs today — and what does not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inference, verified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speech recognition — verified on real audio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microphone → transcript → care plan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into 8 Indian languages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embeddings, voice activity detection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Hexa-Router with measured battery draw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Honestly not finished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64592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Snapdragon device — AI Hub profiling harness is built and one command away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path still uses the grounded extractive backend, not the 3B LLM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Marathi, Bengali, Punjabi have no working checkpoint — the UI says so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D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capture (OCR) is stubbed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11480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E6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42976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fallback is labelled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6634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product runs on a reviewer's laptop with zero models downloaded. Anything on a fallback path is marked degraded in the API and on screen. SETU never passes a stub off as a real inference — in a clinical tool, that distinction is the difference between a demo and a lie.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translator.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check that the patient understood.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because it has to be.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663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orchestrated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4663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settings, one engine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4663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languages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0068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4663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architecture notes, benchmarks and evaluation in the repository.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 - offline comprehension engine</dc:title>
  <dc:subject>PptxGenJS Presentation</dc:subject>
  <dc:creator>SETU</dc:creator>
  <cp:lastModifiedBy>SETU</cp:lastModifiedBy>
  <cp:revision>1</cp:revision>
  <dcterms:created xsi:type="dcterms:W3CDTF">2026-09-12T12:47:37Z</dcterms:created>
  <dcterms:modified xsi:type="dcterms:W3CDTF">2026-09-12T12:47:37Z</dcterms:modified>
</cp:coreProperties>
</file>